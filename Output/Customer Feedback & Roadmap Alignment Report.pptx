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24.png"/><Relationship Id="rId9" Type="http://schemas.openxmlformats.org/officeDocument/2006/relationships/image" Target="../media/image25.png"/><Relationship Id="rId10" Type="http://schemas.openxmlformats.org/officeDocument/2006/relationships/image" Target="../media/image26.png"/><Relationship Id="rId11" Type="http://schemas.openxmlformats.org/officeDocument/2006/relationships/image" Target="../media/image2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6654" y="2583656"/>
            <a:ext cx="2858690" cy="3333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32479" y="3145631"/>
            <a:ext cx="11327040" cy="613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830"/>
              </a:lnSpc>
            </a:pPr>
            <a:r>
              <a:rPr b="1" sz="4200" i="0" u="none">
                <a:solidFill>
                  <a:srgbClr val="FFFFFF"/>
                </a:solidFill>
                <a:latin typeface="Plus Jakarta Sans"/>
              </a:rPr>
              <a:t>Customer Feedback &amp; Roadmap Alignment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71887" y="3949451"/>
            <a:ext cx="4848225" cy="3247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57"/>
              </a:lnSpc>
            </a:pPr>
            <a:r>
              <a:rPr b="0" sz="1650" i="0" u="none">
                <a:solidFill>
                  <a:srgbClr val="C7D2FE"/>
                </a:solidFill>
                <a:latin typeface="Inter"/>
              </a:rPr>
              <a:t>Executive Strategy Report for Product Leadership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891605"/>
            <a:ext cx="5334000" cy="128349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571500"/>
            <a:ext cx="560070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Executive Summary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0"/>
            <a:ext cx="5905500" cy="6858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71500" y="981075"/>
            <a:ext cx="57150" cy="26670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1500" y="1247775"/>
            <a:ext cx="5334000" cy="472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This report bridges user feedback data with upcoming roadmap plans to maximize feature adoption and retention.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050" y="2063055"/>
            <a:ext cx="5200650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F46E5"/>
                </a:solidFill>
                <a:latin typeface="Plus Jakarta Sans SemiBold"/>
              </a:rPr>
              <a:t>Strategic Alignment Goal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050" y="2339280"/>
            <a:ext cx="4953000" cy="664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Ensure 80%+ of high-impact customer requests directly map into upcoming release cycles to reduce churn and accelerate product-market fit.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53087" y="2528887"/>
            <a:ext cx="885825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325"/>
              </a:lnSpc>
            </a:pPr>
            <a:r>
              <a:rPr b="1" sz="1500" i="0" u="none">
                <a:solidFill>
                  <a:srgbClr val="4F46E5"/>
                </a:solidFill>
                <a:latin typeface="Inter"/>
              </a:rPr>
              <a:t>PART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80691" y="2824162"/>
            <a:ext cx="7430616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3900" i="0" u="none">
                <a:solidFill>
                  <a:srgbClr val="0F172A"/>
                </a:solidFill>
                <a:latin typeface="Plus Jakarta Sans"/>
              </a:rPr>
              <a:t>Customer Feedback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0" y="3795712"/>
            <a:ext cx="762000" cy="47625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95600" y="4033837"/>
            <a:ext cx="6400800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325"/>
              </a:lnSpc>
            </a:pPr>
            <a:r>
              <a:rPr b="0" sz="1500" i="0" u="none">
                <a:solidFill>
                  <a:srgbClr val="64748B"/>
                </a:solidFill>
                <a:latin typeface="Inter"/>
              </a:rPr>
              <a:t>Analysis of incoming user sentiment, categories, and priority demand.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133475"/>
            <a:ext cx="11049000" cy="52673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457200"/>
            <a:ext cx="1160145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Feedback Sentiment &amp; Categories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1500" y="866775"/>
            <a:ext cx="57150" cy="26670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71500" y="2422326"/>
            <a:ext cx="11049000" cy="2689473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1500" y="2422326"/>
          <a:ext cx="11039472" cy="26894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3377356"/>
                <a:gridCol w="1968549"/>
                <a:gridCol w="1736973"/>
                <a:gridCol w="1788318"/>
                <a:gridCol w="2168276"/>
              </a:tblGrid>
              <a:tr h="537894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F172A"/>
                          </a:solidFill>
                          <a:latin typeface="Inter"/>
                        </a:rPr>
                        <a:t>Requested Feature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F172A"/>
                          </a:solidFill>
                          <a:latin typeface="Inter"/>
                        </a:rPr>
                        <a:t>User Segment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F172A"/>
                          </a:solidFill>
                          <a:latin typeface="Inter"/>
                        </a:rPr>
                        <a:t>Volume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F172A"/>
                          </a:solidFill>
                          <a:latin typeface="Inter"/>
                        </a:rPr>
                        <a:t>Churn Risk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F172A"/>
                          </a:solidFill>
                          <a:latin typeface="Inter"/>
                        </a:rPr>
                        <a:t>Roadmap Status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</a:tr>
              <a:tr h="537894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475569"/>
                          </a:solidFill>
                          <a:latin typeface="Inter"/>
                        </a:rPr>
                        <a:t>Advanced Analytics &amp; Export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475569"/>
                          </a:solidFill>
                          <a:latin typeface="Inter"/>
                        </a:rPr>
                        <a:t>Enterprise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475569"/>
                          </a:solidFill>
                          <a:latin typeface="Inter"/>
                        </a:rPr>
                        <a:t>420 requests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475569"/>
                          </a:solidFill>
                          <a:latin typeface="Inter"/>
                        </a:rPr>
                        <a:t>High Risk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475569"/>
                          </a:solidFill>
                          <a:latin typeface="Inter"/>
                        </a:rPr>
                        <a:t>Planned for Q2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37894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475569"/>
                          </a:solidFill>
                          <a:latin typeface="Inter"/>
                        </a:rPr>
                        <a:t>Custom Workflow Automation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475569"/>
                          </a:solidFill>
                          <a:latin typeface="Inter"/>
                        </a:rPr>
                        <a:t>Mid-Market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475569"/>
                          </a:solidFill>
                          <a:latin typeface="Inter"/>
                        </a:rPr>
                        <a:t>310 requests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475569"/>
                          </a:solidFill>
                          <a:latin typeface="Inter"/>
                        </a:rPr>
                        <a:t>High Risk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475569"/>
                          </a:solidFill>
                          <a:latin typeface="Inter"/>
                        </a:rPr>
                        <a:t>Planned for Q3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37894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475569"/>
                          </a:solidFill>
                          <a:latin typeface="Inter"/>
                        </a:rPr>
                        <a:t>Granular Role Permissions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475569"/>
                          </a:solidFill>
                          <a:latin typeface="Inter"/>
                        </a:rPr>
                        <a:t>Enterprise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475569"/>
                          </a:solidFill>
                          <a:latin typeface="Inter"/>
                        </a:rPr>
                        <a:t>245 requests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475569"/>
                          </a:solidFill>
                          <a:latin typeface="Inter"/>
                        </a:rPr>
                        <a:t>Medium Risk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475569"/>
                          </a:solidFill>
                          <a:latin typeface="Inter"/>
                        </a:rPr>
                        <a:t>In Review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37897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475569"/>
                          </a:solidFill>
                          <a:latin typeface="Inter"/>
                        </a:rPr>
                        <a:t>Dark Mode UI Support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475569"/>
                          </a:solidFill>
                          <a:latin typeface="Inter"/>
                        </a:rPr>
                        <a:t>All Users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475569"/>
                          </a:solidFill>
                          <a:latin typeface="Inter"/>
                        </a:rPr>
                        <a:t>190 requests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475569"/>
                          </a:solidFill>
                          <a:latin typeface="Inter"/>
                        </a:rPr>
                        <a:t>Low Risk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475569"/>
                          </a:solidFill>
                          <a:latin typeface="Inter"/>
                        </a:rPr>
                        <a:t>Planned for Q1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76262" y="3464718"/>
            <a:ext cx="337735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953619" y="3464718"/>
            <a:ext cx="196854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22168" y="3464718"/>
            <a:ext cx="173697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59141" y="3464718"/>
            <a:ext cx="178831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447460" y="3464718"/>
            <a:ext cx="216827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76262" y="4008983"/>
            <a:ext cx="337735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953619" y="4008983"/>
            <a:ext cx="196854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22168" y="4008983"/>
            <a:ext cx="173697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659141" y="4008983"/>
            <a:ext cx="178831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447460" y="4008983"/>
            <a:ext cx="216827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76262" y="4553247"/>
            <a:ext cx="337735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953619" y="4553247"/>
            <a:ext cx="196854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22168" y="4553247"/>
            <a:ext cx="173697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59141" y="4553247"/>
            <a:ext cx="178831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447460" y="4553247"/>
            <a:ext cx="216827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9641" y="3068091"/>
            <a:ext cx="733425" cy="268039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9641" y="3612356"/>
            <a:ext cx="733425" cy="268039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9641" y="4156620"/>
            <a:ext cx="942975" cy="268039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9641" y="4700885"/>
            <a:ext cx="704850" cy="268039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71500" y="457200"/>
            <a:ext cx="1160145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Top Customer-Requested Features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" y="866775"/>
            <a:ext cx="57150" cy="26670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34037" y="2528887"/>
            <a:ext cx="923925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325"/>
              </a:lnSpc>
            </a:pPr>
            <a:r>
              <a:rPr b="1" sz="1500" i="0" u="none">
                <a:solidFill>
                  <a:srgbClr val="4F46E5"/>
                </a:solidFill>
                <a:latin typeface="Inter"/>
              </a:rPr>
              <a:t>PART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05279" y="2824162"/>
            <a:ext cx="6581291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3900" i="0" u="none">
                <a:solidFill>
                  <a:srgbClr val="0F172A"/>
                </a:solidFill>
                <a:latin typeface="Plus Jakarta Sans"/>
              </a:rPr>
              <a:t>Roadmap &amp; Alignment KPIs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0" y="3795712"/>
            <a:ext cx="762000" cy="47625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62250" y="4033837"/>
            <a:ext cx="6667500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325"/>
              </a:lnSpc>
            </a:pPr>
            <a:r>
              <a:rPr b="0" sz="1500" i="0" u="none">
                <a:solidFill>
                  <a:srgbClr val="64748B"/>
                </a:solidFill>
                <a:latin typeface="Inter"/>
              </a:rPr>
              <a:t>Evaluating feature releases against key operational performance metrics.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995737"/>
            <a:ext cx="2541240" cy="138484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7419" y="2153691"/>
            <a:ext cx="2541240" cy="138484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3339" y="3995737"/>
            <a:ext cx="2541240" cy="138484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79259" y="2153691"/>
            <a:ext cx="2541240" cy="138484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71500" y="3748087"/>
            <a:ext cx="11049000" cy="381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7995" y="4195762"/>
            <a:ext cx="2248249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4F46E5"/>
                </a:solidFill>
                <a:latin typeface="Plus Jakarta Sans SemiBold"/>
              </a:rPr>
              <a:t>Q1 - Quick Wins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1525" y="4471987"/>
            <a:ext cx="2141190" cy="7085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6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Dark Mode, performance optimizations, and UI polish items.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53915" y="2353716"/>
            <a:ext cx="2248249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4F46E5"/>
                </a:solidFill>
                <a:latin typeface="Plus Jakarta Sans SemiBold"/>
              </a:rPr>
              <a:t>Q2 - Enterprise Expansion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07444" y="2629941"/>
            <a:ext cx="2141190" cy="7085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6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Advanced Analytics, custom reporting dashboard, and export APIs.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9835" y="4195762"/>
            <a:ext cx="2248249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4F46E5"/>
                </a:solidFill>
                <a:latin typeface="Plus Jakarta Sans SemiBold"/>
              </a:rPr>
              <a:t>Q3 - Automation Focus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3364" y="4471987"/>
            <a:ext cx="2141190" cy="7085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6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Workflow automation builder and third-party app integrations.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25755" y="2353716"/>
            <a:ext cx="2248249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4F46E5"/>
                </a:solidFill>
                <a:latin typeface="Plus Jakarta Sans SemiBold"/>
              </a:rPr>
              <a:t>Q4 - Scalability &amp; 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79284" y="2629941"/>
            <a:ext cx="2141190" cy="7085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6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Granular RBAC, AI insights assistant, and infrastructure upgrades.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" y="457200"/>
            <a:ext cx="1160145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Roadmap Schedule &amp; Milestone Releases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1500" y="866775"/>
            <a:ext cx="57150" cy="26670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746870" y="3671887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582790" y="3671887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418709" y="3671887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254629" y="3671887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716559"/>
            <a:ext cx="3492400" cy="210115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9650" y="2716559"/>
            <a:ext cx="3492549" cy="210115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7950" y="2716559"/>
            <a:ext cx="3492400" cy="210115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09625" y="3030884"/>
            <a:ext cx="301615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b="0" sz="4800" i="0" u="none">
                <a:solidFill>
                  <a:srgbClr val="4F46E5"/>
                </a:solidFill>
                <a:latin typeface="Plus Jakarta Sans ExtraBold"/>
              </a:rPr>
              <a:t>84%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625" y="3754784"/>
            <a:ext cx="30161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Inter"/>
              </a:rPr>
              <a:t>Feedback Coverage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625" y="4031009"/>
            <a:ext cx="3016150" cy="472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6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Top customer requests addressed in roadmap.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87775" y="3030884"/>
            <a:ext cx="3016299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b="0" sz="4800" i="0" u="none">
                <a:solidFill>
                  <a:srgbClr val="4F46E5"/>
                </a:solidFill>
                <a:latin typeface="Plus Jakarta Sans ExtraBold"/>
              </a:rPr>
              <a:t>+24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87775" y="3754784"/>
            <a:ext cx="3016299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Inter"/>
              </a:rPr>
              <a:t>Expected NPS Lift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87775" y="4031009"/>
            <a:ext cx="3016299" cy="472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6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Projected Net Promoter Score increase post-release.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075" y="3030884"/>
            <a:ext cx="301615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b="0" sz="4800" i="0" u="none">
                <a:solidFill>
                  <a:srgbClr val="4F46E5"/>
                </a:solidFill>
                <a:latin typeface="Plus Jakarta Sans ExtraBold"/>
              </a:rPr>
              <a:t>92%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075" y="3754784"/>
            <a:ext cx="30161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Inter"/>
              </a:rPr>
              <a:t>SLA Adherence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075" y="4031009"/>
            <a:ext cx="3016150" cy="472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6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On-time feature execution rate for key releases.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" y="457200"/>
            <a:ext cx="1160145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Roadmap Alignment KPIs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" y="866775"/>
            <a:ext cx="57150" cy="26670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624137"/>
            <a:ext cx="5334000" cy="228585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624137"/>
            <a:ext cx="5334000" cy="228585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85825" y="2938462"/>
            <a:ext cx="4940617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4F46E5"/>
                </a:solidFill>
                <a:latin typeface="Plus Jakarta Sans SemiBold"/>
              </a:rPr>
              <a:t>Customer-First Scenario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5825" y="3319462"/>
            <a:ext cx="4705350" cy="472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1" sz="1200" i="0" u="none">
                <a:solidFill>
                  <a:srgbClr val="475569"/>
                </a:solidFill>
                <a:latin typeface="Inter"/>
              </a:rPr>
              <a:t>Primary Focus: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 Resolving immediate customer friction and top requested features.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5825" y="3887092"/>
            <a:ext cx="4705350" cy="2361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1" sz="1200" i="0" u="none">
                <a:solidFill>
                  <a:srgbClr val="475569"/>
                </a:solidFill>
                <a:latin typeface="Inter"/>
              </a:rPr>
              <a:t>Pros: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 Maximize short-term retention and CSAT (+30%).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4123283"/>
            <a:ext cx="4705350" cy="472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1" sz="1200" i="0" u="none">
                <a:solidFill>
                  <a:srgbClr val="475569"/>
                </a:solidFill>
                <a:latin typeface="Inter"/>
              </a:rPr>
              <a:t>Trade-offs: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 Delays net-new innovative platform capability releases.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825" y="2938462"/>
            <a:ext cx="4940617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4F46E5"/>
                </a:solidFill>
                <a:latin typeface="Plus Jakarta Sans SemiBold"/>
              </a:rPr>
              <a:t>Business-First Scenario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0825" y="3319462"/>
            <a:ext cx="4705350" cy="472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1" sz="1200" i="0" u="none">
                <a:solidFill>
                  <a:srgbClr val="475569"/>
                </a:solidFill>
                <a:latin typeface="Inter"/>
              </a:rPr>
              <a:t>Primary Focus: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 Building revenue-generating enterprise features and market expansion.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0825" y="3887092"/>
            <a:ext cx="4705350" cy="2361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1" sz="1200" i="0" u="none">
                <a:solidFill>
                  <a:srgbClr val="475569"/>
                </a:solidFill>
                <a:latin typeface="Inter"/>
              </a:rPr>
              <a:t>Pros: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 Accelerates new logo ARR acquisition (+25%).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00825" y="4123283"/>
            <a:ext cx="4705350" cy="2361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1" sz="1200" i="0" u="none">
                <a:solidFill>
                  <a:srgbClr val="475569"/>
                </a:solidFill>
                <a:latin typeface="Inter"/>
              </a:rPr>
              <a:t>Trade-offs: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 Risks elevated churn among existing power users.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457200"/>
            <a:ext cx="1160145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Scenario Analysis: Prioritization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1500" y="866775"/>
            <a:ext cx="57150" cy="26670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555527"/>
            <a:ext cx="3505200" cy="242307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2555527"/>
            <a:ext cx="3505200" cy="242307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5300" y="2555527"/>
            <a:ext cx="3505200" cy="242307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725" y="2831752"/>
            <a:ext cx="609600" cy="609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7725" y="3612802"/>
            <a:ext cx="3100387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1E293B"/>
                </a:solidFill>
                <a:latin typeface="Plus Jakarta Sans SemiBold"/>
              </a:rPr>
              <a:t>Quick Wins (Q1)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3993802"/>
            <a:ext cx="2952750" cy="7085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Prioritize high-demand low-effort items like Dark Mode and UI cleanup to show immediate responsiveness.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19625" y="2831752"/>
            <a:ext cx="609600" cy="609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19625" y="3612802"/>
            <a:ext cx="3100387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1E293B"/>
                </a:solidFill>
                <a:latin typeface="Plus Jakarta Sans SemiBold"/>
              </a:rPr>
              <a:t>Core Value (Q2-Q3)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9625" y="3993802"/>
            <a:ext cx="2952750" cy="7085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Deliver Advanced Analytics &amp; Workflow Automation to secure key enterprise renewals and reduce churn risk.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91525" y="2831752"/>
            <a:ext cx="609600" cy="609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91525" y="3612802"/>
            <a:ext cx="3100387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1E293B"/>
                </a:solidFill>
                <a:latin typeface="Plus Jakarta Sans SemiBold"/>
              </a:rPr>
              <a:t>Strategic Bets (Q4)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91525" y="3993802"/>
            <a:ext cx="2952750" cy="7085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Invest in Granular RBAC and AI Automation to unlock enterprise sales pipeline growth for next fiscal year.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0125" y="2965102"/>
            <a:ext cx="304800" cy="3429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52975" y="2965102"/>
            <a:ext cx="342900" cy="3429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24875" y="2965102"/>
            <a:ext cx="342900" cy="3429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1500" y="457200"/>
            <a:ext cx="1160145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Strategic Release Recommendations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1500" y="866775"/>
            <a:ext cx="57150" cy="26670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71550" y="2884289"/>
            <a:ext cx="10648950" cy="2509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b="1" sz="1275" i="0" u="none">
                <a:solidFill>
                  <a:srgbClr val="475569"/>
                </a:solidFill>
                <a:latin typeface="Inter"/>
              </a:rPr>
              <a:t>Finalize Q1 Scope:</a:t>
            </a:r>
            <a:r>
              <a:rPr b="0" sz="1275" i="0" u="none">
                <a:solidFill>
                  <a:srgbClr val="475569"/>
                </a:solidFill>
                <a:latin typeface="Inter"/>
              </a:rPr>
              <a:t> Lock engineering backlog for high-volume quick wins by end of sprint.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1550" y="3325713"/>
            <a:ext cx="10648950" cy="2509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b="1" sz="1275" i="0" u="none">
                <a:solidFill>
                  <a:srgbClr val="475569"/>
                </a:solidFill>
                <a:latin typeface="Inter"/>
              </a:rPr>
              <a:t>Align Engineering Resources:</a:t>
            </a:r>
            <a:r>
              <a:rPr b="0" sz="1275" i="0" u="none">
                <a:solidFill>
                  <a:srgbClr val="475569"/>
                </a:solidFill>
                <a:latin typeface="Inter"/>
              </a:rPr>
              <a:t> Reallocate 30% dev capacity to Enterprise Analytics feature set.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50" y="3767137"/>
            <a:ext cx="10648950" cy="2509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b="1" sz="1275" i="0" u="none">
                <a:solidFill>
                  <a:srgbClr val="475569"/>
                </a:solidFill>
                <a:latin typeface="Inter"/>
              </a:rPr>
              <a:t>Customer Advisory Sync:</a:t>
            </a:r>
            <a:r>
              <a:rPr b="0" sz="1275" i="0" u="none">
                <a:solidFill>
                  <a:srgbClr val="475569"/>
                </a:solidFill>
                <a:latin typeface="Inter"/>
              </a:rPr>
              <a:t> Host advisory roundtables with top enterprise requestors to validate UI prototypes.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1550" y="4208561"/>
            <a:ext cx="10648950" cy="2509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b="1" sz="1275" i="0" u="none">
                <a:solidFill>
                  <a:srgbClr val="475569"/>
                </a:solidFill>
                <a:latin typeface="Inter"/>
              </a:rPr>
              <a:t>Establish KPI Dashboard:</a:t>
            </a:r>
            <a:r>
              <a:rPr b="0" sz="1275" i="0" u="none">
                <a:solidFill>
                  <a:srgbClr val="475569"/>
                </a:solidFill>
                <a:latin typeface="Inter"/>
              </a:rPr>
              <a:t> Track monthly alignment score and sentiment shift in executive dashboard.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898576"/>
            <a:ext cx="209550" cy="2190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340000"/>
            <a:ext cx="180975" cy="2190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781425"/>
            <a:ext cx="238125" cy="2190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222849"/>
            <a:ext cx="161925" cy="2190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457200"/>
            <a:ext cx="1160145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Next Steps for Product Leadership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1500" y="866775"/>
            <a:ext cx="57150" cy="26670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95275" y="457200"/>
            <a:ext cx="116014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4800" i="0" u="none">
                <a:solidFill>
                  <a:srgbClr val="0F172A"/>
                </a:solidFill>
                <a:latin typeface="Plus Jakarta Sans"/>
              </a:rPr>
              <a:t>Questions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1371600"/>
            <a:ext cx="11049000" cy="3247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57"/>
              </a:lnSpc>
            </a:pPr>
            <a:r>
              <a:rPr b="0" sz="1650" i="0" u="none">
                <a:solidFill>
                  <a:srgbClr val="4F46E5"/>
                </a:solidFill>
                <a:latin typeface="Inter SemiBold"/>
              </a:rPr>
              <a:t>Product Strategy &amp; Leadership Alignment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2039242"/>
            <a:ext cx="110490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64748B"/>
                </a:solidFill>
                <a:latin typeface="Inter"/>
              </a:rPr>
              <a:t>Prepared for Product Leadership | Confidential Internal Strategy Report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7437" y="3529012"/>
            <a:ext cx="857250" cy="4762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52812" y="3529310"/>
            <a:ext cx="6381750" cy="191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11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https://www.hustlebadger.com/wp-content/uploads/2025/09/snap-strategy-class-flow-chart-1024x571.png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52812" y="3768774"/>
            <a:ext cx="6381750" cy="2361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www.hustlebadger.com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457200"/>
            <a:ext cx="1160145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Image Sources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1500" y="866775"/>
            <a:ext cx="57150" cy="26670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